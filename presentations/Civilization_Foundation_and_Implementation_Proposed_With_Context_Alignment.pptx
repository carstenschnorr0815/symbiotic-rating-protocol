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9deb309ec74299" /><Relationship Type="http://schemas.openxmlformats.org/officeDocument/2006/relationships/extended-properties" Target="/docProps/app.xml" Id="R7993414bca314e92" /><Relationship Type="http://schemas.openxmlformats.org/officeDocument/2006/relationships/officeDocument" Target="/ppt/presentation.xml" Id="R46ad6adbb49047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a5ee930c834148"/>
  </p:sldMasterIdLst>
  <p:notesMasterIdLst>
    <p:notesMasterId xmlns:r="http://schemas.openxmlformats.org/officeDocument/2006/relationships" r:id="R340c04d49d0e45f9"/>
  </p:notesMasterIdLst>
  <p:sldIdLst>
    <p:sldId xmlns:r="http://schemas.openxmlformats.org/officeDocument/2006/relationships" id="256" r:id="R2ca8768d4c614576"/>
    <p:sldId xmlns:r="http://schemas.openxmlformats.org/officeDocument/2006/relationships" id="257" r:id="Rf7a39213e3924dbb"/>
    <p:sldId xmlns:r="http://schemas.openxmlformats.org/officeDocument/2006/relationships" id="258" r:id="Rd33d6a753f4f4105"/>
    <p:sldId xmlns:r="http://schemas.openxmlformats.org/officeDocument/2006/relationships" id="259" r:id="R86ec64a97c5d44e3"/>
    <p:sldId xmlns:r="http://schemas.openxmlformats.org/officeDocument/2006/relationships" id="260" r:id="R598336723fb74bc8"/>
    <p:sldId xmlns:r="http://schemas.openxmlformats.org/officeDocument/2006/relationships" id="261" r:id="R560de51974b94358"/>
    <p:sldId xmlns:r="http://schemas.openxmlformats.org/officeDocument/2006/relationships" id="262" r:id="Re72ca7628c4c48f0"/>
    <p:sldId xmlns:r="http://schemas.openxmlformats.org/officeDocument/2006/relationships" id="263" r:id="R60d5d225c9aa4a4d"/>
    <p:sldId xmlns:r="http://schemas.openxmlformats.org/officeDocument/2006/relationships" id="264" r:id="R6f04bee0e9e2440a"/>
    <p:sldId xmlns:r="http://schemas.openxmlformats.org/officeDocument/2006/relationships" id="265" r:id="Rc93759700bfe4b13"/>
    <p:sldId xmlns:r="http://schemas.openxmlformats.org/officeDocument/2006/relationships" id="266" r:id="Re5953772b8f548c3"/>
  </p:sldIdLst>
  <p:sldSz cx="12188952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523809649c4336" /><Relationship Type="http://schemas.openxmlformats.org/officeDocument/2006/relationships/slideMaster" Target="/ppt/slideMasters/slideMaster1.xml" Id="Rf1a5ee930c834148" /><Relationship Type="http://schemas.openxmlformats.org/officeDocument/2006/relationships/notesMaster" Target="/ppt/notesMasters/notesMaster1.xml" Id="R340c04d49d0e45f9" /><Relationship Type="http://schemas.openxmlformats.org/officeDocument/2006/relationships/presProps" Target="/ppt/presProps.xml" Id="R2239cf125712486b" /><Relationship Type="http://schemas.openxmlformats.org/officeDocument/2006/relationships/viewProps" Target="/ppt/viewProps.xml" Id="R321009c76d904f4e" /><Relationship Type="http://schemas.openxmlformats.org/officeDocument/2006/relationships/tableStyles" Target="/ppt/tableStyles.xml" Id="Rc908d17bb038478b" /><Relationship Type="http://schemas.openxmlformats.org/officeDocument/2006/relationships/slide" Target="/ppt/slides/slide1.xml" Id="R2ca8768d4c614576" /><Relationship Type="http://schemas.openxmlformats.org/officeDocument/2006/relationships/slide" Target="/ppt/slides/slide2.xml" Id="Rf7a39213e3924dbb" /><Relationship Type="http://schemas.openxmlformats.org/officeDocument/2006/relationships/slide" Target="/ppt/slides/slide3.xml" Id="Rd33d6a753f4f4105" /><Relationship Type="http://schemas.openxmlformats.org/officeDocument/2006/relationships/slide" Target="/ppt/slides/slide4.xml" Id="R86ec64a97c5d44e3" /><Relationship Type="http://schemas.openxmlformats.org/officeDocument/2006/relationships/slide" Target="/ppt/slides/slide5.xml" Id="R598336723fb74bc8" /><Relationship Type="http://schemas.openxmlformats.org/officeDocument/2006/relationships/slide" Target="/ppt/slides/slide6.xml" Id="R560de51974b94358" /><Relationship Type="http://schemas.openxmlformats.org/officeDocument/2006/relationships/slide" Target="/ppt/slides/slide7.xml" Id="Re72ca7628c4c48f0" /><Relationship Type="http://schemas.openxmlformats.org/officeDocument/2006/relationships/slide" Target="/ppt/slides/slide8.xml" Id="R60d5d225c9aa4a4d" /><Relationship Type="http://schemas.openxmlformats.org/officeDocument/2006/relationships/slide" Target="/ppt/slides/slide9.xml" Id="R6f04bee0e9e2440a" /><Relationship Type="http://schemas.openxmlformats.org/officeDocument/2006/relationships/slide" Target="/ppt/slides/slide10.xml" Id="Rc93759700bfe4b13" /><Relationship Type="http://schemas.openxmlformats.org/officeDocument/2006/relationships/slide" Target="/ppt/slides/slide11.xml" Id="Re5953772b8f548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ee1a5b8b9a4d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8cda5fd700448f" /><Relationship Type="http://schemas.openxmlformats.org/officeDocument/2006/relationships/notesMaster" Target="/ppt/notesMasters/notesMaster1.xml" Id="Rff8fc7b40c1b47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cacae178c5428d" /><Relationship Type="http://schemas.openxmlformats.org/officeDocument/2006/relationships/notesMaster" Target="/ppt/notesMasters/notesMaster1.xml" Id="R95e628f546e149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ab405525a44c02" /><Relationship Type="http://schemas.openxmlformats.org/officeDocument/2006/relationships/notesMaster" Target="/ppt/notesMasters/notesMaster1.xml" Id="R64d54d1a590d4f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491e52ed4b4929" /><Relationship Type="http://schemas.openxmlformats.org/officeDocument/2006/relationships/notesMaster" Target="/ppt/notesMasters/notesMaster1.xml" Id="Re84ed6b9622642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57bb6aea1e483d" /><Relationship Type="http://schemas.openxmlformats.org/officeDocument/2006/relationships/notesMaster" Target="/ppt/notesMasters/notesMaster1.xml" Id="Re6fffcdb8aa244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b4bea4cdee406b" /><Relationship Type="http://schemas.openxmlformats.org/officeDocument/2006/relationships/notesMaster" Target="/ppt/notesMasters/notesMaster1.xml" Id="R3c1351d235d249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74a9d22a6d424c" /><Relationship Type="http://schemas.openxmlformats.org/officeDocument/2006/relationships/notesMaster" Target="/ppt/notesMasters/notesMaster1.xml" Id="R28f0914628e549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1ced4f646142d8" /><Relationship Type="http://schemas.openxmlformats.org/officeDocument/2006/relationships/notesMaster" Target="/ppt/notesMasters/notesMaster1.xml" Id="Rce9f13f505a640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a413968e6b4d2c" /><Relationship Type="http://schemas.openxmlformats.org/officeDocument/2006/relationships/notesMaster" Target="/ppt/notesMasters/notesMaster1.xml" Id="Rb036b6dcd6fb4d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a8c9a93f41474e" /><Relationship Type="http://schemas.openxmlformats.org/officeDocument/2006/relationships/notesMaster" Target="/ppt/notesMasters/notesMaster1.xml" Id="R5fba7891aa0a4a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861f5834db4708" /><Relationship Type="http://schemas.openxmlformats.org/officeDocument/2006/relationships/notesMaster" Target="/ppt/notesMasters/notesMaster1.xml" Id="R2b1a7509bfe644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  <a:p xmlns:a="http://schemas.openxmlformats.org/drawingml/2006/main">
            <a:r>
              <a:t>Practice references: https://airc.nist.gov/airmf-resources/airmf/5-sec-core/ ; https://www.cbd.int/ecosystem/default.shtml ; https://www.oecd.org/en/topics/integrity-in-public-procurement.html . See docs/SOURCES.md for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  <a:p xmlns:a="http://schemas.openxmlformats.org/drawingml/2006/main">
            <a:r>
              <a:t>The pilot is fictional; see examples/watershed-pilot.md and IMPLEMENTATION.md. No observed outcomes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author-supplied "Kontextmarker und Koexistenz von Mensch und KI — Ein Diskussionsentwurf", 16 October 2026, preserved in docs/sources/2026-10-16-context-markers-original.de.txt. Integration and agency safeguards: CONTEXT_ALIGNMENT.md, FOUNDATION.md, GOVERNANCE.md, docs/SAFEGUARD_PLACEMENT.de.md. Proposals, not demonstrated communication benefits or cross-species consent. The four law texts remain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author-supplied "Kontextmarker und Koexistenz von Mensch und KI — Ein Diskussionsentwurf", 16 October 2026, preserved in docs/sources/2026-10-16-context-markers-original.de.txt. Integration and agency safeguards: CONTEXT_ALIGNMENT.md, FOUNDATION.md, GOVERNANCE.md, docs/SAFEGUARD_PLACEMENT.de.md. Proposals, not demonstrated communication benefits or cross-species consent. The four law texts remain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f296ca627a4f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871b6b84a44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aaf7e2d7df47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e7986905114e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28e4ba868541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649f414ad34f4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9904e68bc747c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a3d3a02ce148a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b1269b036249c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949d2583ed4d5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5073a3a2ea49f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C68165-6653-4626-A972-8F4EF2BA28A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08D6A4F-EFF5-4DBF-810F-A2212F4F5D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EADC41-6F62-44B0-9B6E-5B24AFC125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5B8D009-63D5-46F7-BF8B-0BCCD970F8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14899C-487F-4637-AFE2-CED297B5A1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2CA82A-82ED-482A-9548-0D0E4B1CCB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5A6CFF-F957-4A81-90A1-B56D207F26F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DBD5E0-0E55-42F3-BBD0-8027835432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388DD8-725E-4482-98A7-0378AF3B36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C93349-83C5-4BA2-963B-EC7A901820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60B3B0-2C39-448A-8290-72CA01076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AD3A0CF-723E-441C-90E4-40E5E77F3E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55C8AF4-12A7-4BA3-8219-65CD42B806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BA4FEC-29E7-4880-904F-2F56F89E11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AA5E125-1C3C-4F99-8D0D-44F65C1E82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3AE74F-8911-4114-AE89-ACC52DCE8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00C9A86-11C4-442A-9C4C-6319A334B0E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3BA4243-C091-4F3E-8011-F064832217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DD3F914-69CF-44A3-BA95-C7BE1DBCDA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B7A4383-D476-4345-9615-56C2FADFB0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61D8FA0-AFF8-4C0D-B1D4-66261D217E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EFDBE6-03C0-403E-8AA2-2A2081E9B4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8A86BA-E880-4BEB-A34E-40E63E491E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0644241-2010-46BC-B6A9-39F6396D180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7E5C766-7849-46B4-AC4E-E5CF2F1F2C0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7DD4754-9A4A-401A-A084-D9BCD4BB2D0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70EE5CB-BE20-429D-A561-88B2FF0534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25F465A-C20F-435C-A90D-D4D3B22548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0D93727-85EB-4524-AB3C-B468FEE98E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ABD601-6577-4A3D-ACA8-0CFE1BF269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881F77B-FBBB-4A47-BB45-B8D7F7E2A4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476F074-3411-461F-A073-9AFEA6DE54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C456CD2-A0C0-43A2-AA17-B83386BA4E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55DEE06-2B6C-4C5C-95C4-2A6610775B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9B225A3-700D-4EAF-BAD8-E24B72D41C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331A273-4183-46C3-BCB3-6432F5D0EC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43FDA8-F3AF-47FA-A823-D9914EEF3F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1833325-1FEE-4232-8DD5-2D3CDCF0AD0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B7FAF3-25D2-496F-B463-8967120354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572C9E1-4C0F-4A58-9EC0-E3FAF66259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2F2E9D3-ED5F-4283-938A-F3FA7BC98D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AACA440-538C-47CA-9BC7-5C1D012264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CBC960-951A-46BB-8044-ACBD4242D9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63D5152-5857-43DD-8D41-E211F489857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07DB312-B0A0-4901-BB4A-B8C88F9752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38F5968-E14C-4CBC-A48E-DB99748AD6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A2C5648-3D15-4E83-97D7-68DF87C8C6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E05363B-ECDA-474B-991E-B6244B0F40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204063-3DD4-4B87-8713-D14BE46540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1EA6698-C07B-4630-90BA-12261789EA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F9AED3-9AAD-4F44-980C-ADEFC5BA59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71ED80-3280-40A1-B34B-4530E97190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C3A010-4901-4151-A6C1-26E204860E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5C84666-9BE7-4134-BD68-AB11810E24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27B0917-A88A-4F45-9FCB-EAB229E11E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3A69358-45ED-424E-9E6A-D1DA964B1B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490A03-6FF6-4986-87A5-32D1DD7F62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6E6100-FF66-4B13-B74A-F949D25F5C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0459d7bff44619" /><Relationship Type="http://schemas.openxmlformats.org/officeDocument/2006/relationships/slideLayout" Target="/ppt/slideLayouts/slideLayout1.xml" Id="Rcdc63192e8c34558" /><Relationship Type="http://schemas.openxmlformats.org/officeDocument/2006/relationships/slideLayout" Target="/ppt/slideLayouts/slideLayout2.xml" Id="Rb089edbc5a9e4d39" /><Relationship Type="http://schemas.openxmlformats.org/officeDocument/2006/relationships/slideLayout" Target="/ppt/slideLayouts/slideLayout3.xml" Id="R81eca0d735574611" /><Relationship Type="http://schemas.openxmlformats.org/officeDocument/2006/relationships/slideLayout" Target="/ppt/slideLayouts/slideLayout4.xml" Id="R1f43c7f157b24f30" /><Relationship Type="http://schemas.openxmlformats.org/officeDocument/2006/relationships/slideLayout" Target="/ppt/slideLayouts/slideLayout5.xml" Id="R4b31e239c63f4dc0" /><Relationship Type="http://schemas.openxmlformats.org/officeDocument/2006/relationships/slideLayout" Target="/ppt/slideLayouts/slideLayout6.xml" Id="R7e8076daa0364621" /><Relationship Type="http://schemas.openxmlformats.org/officeDocument/2006/relationships/slideLayout" Target="/ppt/slideLayouts/slideLayout7.xml" Id="Rb3ff5d3074c2482c" /><Relationship Type="http://schemas.openxmlformats.org/officeDocument/2006/relationships/slideLayout" Target="/ppt/slideLayouts/slideLayout8.xml" Id="R24c17493e61b41c7" /><Relationship Type="http://schemas.openxmlformats.org/officeDocument/2006/relationships/slideLayout" Target="/ppt/slideLayouts/slideLayout9.xml" Id="R8e20b0da35464c7a" /><Relationship Type="http://schemas.openxmlformats.org/officeDocument/2006/relationships/slideLayout" Target="/ppt/slideLayouts/slideLayout10.xml" Id="Rc5019556f7464c1a" /><Relationship Type="http://schemas.openxmlformats.org/officeDocument/2006/relationships/slideLayout" Target="/ppt/slideLayouts/slideLayout11.xml" Id="R416c47fdca1e443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A9E8025-ADE5-42DA-885B-DE78C86843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CA6046-704B-4268-A59D-C89E0AD436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2142F51-524C-43EE-9F51-5C19879F7B1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7D2D51-9BA4-414B-998E-54D9BF0E53C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1273D5-0D59-49D3-A2EA-0134281ED3A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c63192e8c34558"/>
    <p:sldLayoutId xmlns:r="http://schemas.openxmlformats.org/officeDocument/2006/relationships" id="2147483650" r:id="Rb089edbc5a9e4d39"/>
    <p:sldLayoutId xmlns:r="http://schemas.openxmlformats.org/officeDocument/2006/relationships" id="2147483651" r:id="R81eca0d735574611"/>
    <p:sldLayoutId xmlns:r="http://schemas.openxmlformats.org/officeDocument/2006/relationships" id="2147483652" r:id="R1f43c7f157b24f30"/>
    <p:sldLayoutId xmlns:r="http://schemas.openxmlformats.org/officeDocument/2006/relationships" id="2147483653" r:id="R4b31e239c63f4dc0"/>
    <p:sldLayoutId xmlns:r="http://schemas.openxmlformats.org/officeDocument/2006/relationships" id="2147483654" r:id="R7e8076daa0364621"/>
    <p:sldLayoutId xmlns:r="http://schemas.openxmlformats.org/officeDocument/2006/relationships" id="2147483655" r:id="Rb3ff5d3074c2482c"/>
    <p:sldLayoutId xmlns:r="http://schemas.openxmlformats.org/officeDocument/2006/relationships" id="2147483656" r:id="R24c17493e61b41c7"/>
    <p:sldLayoutId xmlns:r="http://schemas.openxmlformats.org/officeDocument/2006/relationships" id="2147483657" r:id="R8e20b0da35464c7a"/>
    <p:sldLayoutId xmlns:r="http://schemas.openxmlformats.org/officeDocument/2006/relationships" id="2147483658" r:id="Rc5019556f7464c1a"/>
    <p:sldLayoutId xmlns:r="http://schemas.openxmlformats.org/officeDocument/2006/relationships" id="2147483659" r:id="R416c47fdca1e4430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63770fb8de4647" /><Relationship Type="http://schemas.openxmlformats.org/officeDocument/2006/relationships/notesSlide" Target="/ppt/notesSlides/notesSlide1.xml" Id="Rec2029cc316e46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13ab82027c42c2" /><Relationship Type="http://schemas.openxmlformats.org/officeDocument/2006/relationships/notesSlide" Target="/ppt/notesSlides/notesSlide2.xml" Id="R50a1f74c18874a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70ace0ddec450c" /><Relationship Type="http://schemas.openxmlformats.org/officeDocument/2006/relationships/notesSlide" Target="/ppt/notesSlides/notesSlide3.xml" Id="R071d513eab234e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03c12a7e974bdd" /><Relationship Type="http://schemas.openxmlformats.org/officeDocument/2006/relationships/notesSlide" Target="/ppt/notesSlides/notesSlide4.xml" Id="R6244dad6617e41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147257d8974fee" /><Relationship Type="http://schemas.openxmlformats.org/officeDocument/2006/relationships/notesSlide" Target="/ppt/notesSlides/notesSlide5.xml" Id="R9c5bd73e6a2744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86aea4b3dd412d" /><Relationship Type="http://schemas.openxmlformats.org/officeDocument/2006/relationships/notesSlide" Target="/ppt/notesSlides/notesSlide6.xml" Id="R26b4c6ee578b47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bdacab54a94995" /><Relationship Type="http://schemas.openxmlformats.org/officeDocument/2006/relationships/notesSlide" Target="/ppt/notesSlides/notesSlide7.xml" Id="R3ad52042455149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e0ad65b48c64a61" /><Relationship Type="http://schemas.openxmlformats.org/officeDocument/2006/relationships/notesSlide" Target="/ppt/notesSlides/notesSlide8.xml" Id="Rc4aafc5427d349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d904198d5d4813" /><Relationship Type="http://schemas.openxmlformats.org/officeDocument/2006/relationships/notesSlide" Target="/ppt/notesSlides/notesSlide9.xml" Id="R5bacc7d3370b40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6bc68a21254bba" /><Relationship Type="http://schemas.openxmlformats.org/officeDocument/2006/relationships/notesSlide" Target="/ppt/notesSlides/notesSlide10.xml" Id="Re72cfba9c6774c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7e39d0792e41cc" /><Relationship Type="http://schemas.openxmlformats.org/officeDocument/2006/relationships/notesSlide" Target="/ppt/notesSlides/notesSlide11.xml" Id="R73561410cf344f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C653684-ED75-42C0-85BF-8B440D75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036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44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spcAft>
                <a:spcPts val="2400"/>
              </a:spcAft>
              <a:buNone/>
              <a:defRPr sz="44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141821"/>
                </a:solidFill>
                <a:latin typeface="Arial"/>
                <a:ea typeface="Arial"/>
                <a:cs typeface="Arial"/>
              </a:rPr>
              <a:t>A Plural Civilization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DF4A9-3810-4E33-B32B-A6B6FD97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10363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66CC"/>
                </a:solidFill>
                <a:latin typeface="Arial"/>
                <a:ea typeface="Arial"/>
                <a:cs typeface="Arial"/>
              </a:rPr>
              <a:t>Philosophy, institutions, economics, and technology</a:t>
            </a:r>
          </a:p>
          <a:p xmlns:a="http://schemas.openxmlformats.org/drawingml/2006/main">
            <a:pPr>
              <a:buNone/>
              <a:defRPr sz="20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66CC"/>
                </a:solidFill>
                <a:latin typeface="Arial"/>
                <a:ea typeface="Arial"/>
                <a:cs typeface="Arial"/>
              </a:rPr>
              <a:t>A proposed continuation of the Evolutionary Crisis blueprint</a:t>
            </a:r>
          </a:p>
          <a:p xmlns:a="http://schemas.openxmlformats.org/drawingml/2006/main">
            <a:pPr>
              <a:buNone/>
              <a:defRPr sz="20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66CC"/>
                </a:solidFill>
                <a:latin typeface="Arial"/>
                <a:ea typeface="Arial"/>
                <a:cs typeface="Arial"/>
              </a:rPr>
              <a:t>carstenschnorr0815</a:t>
            </a:r>
          </a:p>
        </p:txBody>
      </p:sp>
    </p:spTree>
    <p:extLst>
      <p:ext uri="{BB962C8B-B14F-4D97-AF65-F5344CB8AC3E}">
        <p14:creationId xmlns:p14="http://schemas.microsoft.com/office/powerpoint/2010/main" val="3614967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396FEBE-0F7D-4AFF-B78F-9E06C26D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1821"/>
                </a:solidFill>
                <a:latin typeface="Arial"/>
                <a:ea typeface="Arial"/>
                <a:cs typeface="Arial"/>
              </a:rPr>
              <a:t>Stress, institutions, and cooperation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E60E412-E578-48A4-8F85-B117E843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2072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Working hypothesis: material insecurity can obstruct long-term cooperation.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Universal biological limits and inevitable tribal regression are not assumed.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Examine material conditions, incentives, institutions, and context together.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Protect plural values while reducing avoidable pressure on essential resources.</a:t>
            </a:r>
          </a:p>
        </p:txBody>
      </p:sp>
    </p:spTree>
    <p:extLst>
      <p:ext uri="{BB962C8B-B14F-4D97-AF65-F5344CB8AC3E}">
        <p14:creationId xmlns:p14="http://schemas.microsoft.com/office/powerpoint/2010/main" val="14460379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70CF28B-0C1A-4BAD-B9E2-CDCEAE67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1821"/>
                </a:solidFill>
                <a:latin typeface="Arial"/>
                <a:ea typeface="Arial"/>
                <a:cs typeface="Arial"/>
              </a:rPr>
              <a:t>The outrage incentive hypothesis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7ACBF7A-9B53-4EEC-B842-E8C7BD7B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2072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Investigate when engagement incentives reward harmful conflict amplification.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Distinguish emotional language from harmful conduct and demonstrated effects.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Protect legitimate protest, reporting, and political disagreement.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Publish causal limits and counterexamples before assigning a rating.</a:t>
            </a:r>
          </a:p>
        </p:txBody>
      </p:sp>
    </p:spTree>
    <p:extLst>
      <p:ext uri="{BB962C8B-B14F-4D97-AF65-F5344CB8AC3E}">
        <p14:creationId xmlns:p14="http://schemas.microsoft.com/office/powerpoint/2010/main" val="4413352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075AE41-68DF-4F5F-90FA-3E65354C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1821"/>
                </a:solidFill>
                <a:latin typeface="Arial"/>
                <a:ea typeface="Arial"/>
                <a:cs typeface="Arial"/>
              </a:rPr>
              <a:t>Bertaux and the systems perspective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A08E79A-D527-4A1E-A536-50E4DD54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2072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Bertaux provides a philosophical lens for social and technical organization.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The organism analogy suggests coordination among complementary functions.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It does not prove historical inevitability or a single planetary consciousness.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A shared civilization can preserve diverse identities and partial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137943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7D305FE-62B9-4105-A99B-F40B455C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1821"/>
                </a:solidFill>
                <a:latin typeface="Arial"/>
                <a:ea typeface="Arial"/>
                <a:cs typeface="Arial"/>
              </a:rPr>
              <a:t>Accountable infrastructure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436809E-946E-4BFE-9CB3-510613CB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2072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Stabilize energy, logistics, resources, and essential provision.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Use open methods, supervised operation, monitoring, and manual fallback.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Separate observations, model interpretations, public decisions, and execution.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Make authority visible, limited, contestable, and subject to review.</a:t>
            </a:r>
          </a:p>
        </p:txBody>
      </p:sp>
    </p:spTree>
    <p:extLst>
      <p:ext uri="{BB962C8B-B14F-4D97-AF65-F5344CB8AC3E}">
        <p14:creationId xmlns:p14="http://schemas.microsoft.com/office/powerpoint/2010/main" val="10656830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08BDE-E612-4BA5-8AD7-1F92B29A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1821"/>
                </a:solidFill>
                <a:latin typeface="Arial"/>
                <a:ea typeface="Arial"/>
                <a:cs typeface="Arial"/>
              </a:rPr>
              <a:t>The Four Laws —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0D094-666C-4FC9-823B-6856B6A5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Homeostasis: support viability, regeneration, and adaptation.</a:t>
            </a:r>
          </a:p>
          <a:p xmlns:a="http://schemas.openxmlformats.org/drawingml/2006/main">
            <a:pPr>
              <a:buNone/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Agency: preserve self-determination and meaningful refusal.</a:t>
            </a:r>
          </a:p>
          <a:p xmlns:a="http://schemas.openxmlformats.org/drawingml/2006/main">
            <a:pPr>
              <a:buNone/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Interdependence: enable complementary knowledge without forced dependency.</a:t>
            </a:r>
          </a:p>
          <a:p xmlns:a="http://schemas.openxmlformats.org/drawingml/2006/main">
            <a:pPr>
              <a:buNone/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Humility: act carefully where interests and meanings remain uncertain.</a:t>
            </a:r>
          </a:p>
        </p:txBody>
      </p:sp>
    </p:spTree>
    <p:extLst>
      <p:ext uri="{BB962C8B-B14F-4D97-AF65-F5344CB8AC3E}">
        <p14:creationId xmlns:p14="http://schemas.microsoft.com/office/powerpoint/2010/main" val="8799045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C001D-CFD6-4988-93C2-0D000D41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1821"/>
                </a:solidFill>
                <a:latin typeface="Arial"/>
                <a:ea typeface="Arial"/>
                <a:cs typeface="Arial"/>
              </a:rPr>
              <a:t>Existing institutions as entry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E2371-ECDC-400F-A6B6-C620A74F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Adapt participatory planning, impact review, stewardship, and independent appeal.</a:t>
            </a:r>
          </a:p>
          <a:p xmlns:a="http://schemas.openxmlformats.org/drawingml/2006/main">
            <a:pPr>
              <a:buNone/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Explore procurement and contracts within the responsible authority’s mandate.</a:t>
            </a:r>
          </a:p>
          <a:p xmlns:a="http://schemas.openxmlformats.org/drawingml/2006/main">
            <a:pPr>
              <a:buNone/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Publish representative appointments, interests, evidence, and alternative views.</a:t>
            </a:r>
          </a:p>
          <a:p xmlns:a="http://schemas.openxmlformats.org/drawingml/2006/main">
            <a:pPr>
              <a:buNone/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These are proposed adaptations, not newly established legal powers.</a:t>
            </a:r>
          </a:p>
        </p:txBody>
      </p:sp>
    </p:spTree>
    <p:extLst>
      <p:ext uri="{BB962C8B-B14F-4D97-AF65-F5344CB8AC3E}">
        <p14:creationId xmlns:p14="http://schemas.microsoft.com/office/powerpoint/2010/main" val="14899938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B88BF-97A5-4423-91EE-333B87BD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1821"/>
                </a:solidFill>
                <a:latin typeface="Arial"/>
                <a:ea typeface="Arial"/>
                <a:cs typeface="Arial"/>
              </a:rPr>
              <a:t>Economic durability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80F0A-08F3-45EF-8B15-AEB6F862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Identify who pays, who benefits, who carries risk, and who can withdraw.</a:t>
            </a:r>
          </a:p>
          <a:p xmlns:a="http://schemas.openxmlformats.org/drawingml/2006/main">
            <a:pPr>
              <a:buNone/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Fund operations, monitoring, representation, independent review, and remedies.</a:t>
            </a:r>
          </a:p>
          <a:p xmlns:a="http://schemas.openxmlformats.org/drawingml/2006/main">
            <a:pPr>
              <a:buNone/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Protect essential supply if a partner or funding source leaves.</a:t>
            </a:r>
          </a:p>
          <a:p xmlns:a="http://schemas.openxmlformats.org/drawingml/2006/main">
            <a:pPr>
              <a:buNone/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Do not make protection dependent on market value or a favorable score.</a:t>
            </a:r>
          </a:p>
        </p:txBody>
      </p:sp>
    </p:spTree>
    <p:extLst>
      <p:ext uri="{BB962C8B-B14F-4D97-AF65-F5344CB8AC3E}">
        <p14:creationId xmlns:p14="http://schemas.microsoft.com/office/powerpoint/2010/main" val="8448570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35465-196F-4E22-AEB4-09BE7778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1821"/>
                </a:solidFill>
                <a:latin typeface="Arial"/>
                <a:ea typeface="Arial"/>
                <a:cs typeface="Arial"/>
              </a:rPr>
              <a:t>Evidence before expansion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AE8F9-5481-4BD8-AD32-2E1B402F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Start with retrospective cases and independent reviewer comparison.</a:t>
            </a:r>
          </a:p>
          <a:p xmlns:a="http://schemas.openxmlformats.org/drawingml/2006/main">
            <a:pPr>
              <a:buNone/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Run a bounded shadow pilot before authorizing limited interventions.</a:t>
            </a:r>
          </a:p>
          <a:p xmlns:a="http://schemas.openxmlformats.org/drawingml/2006/main">
            <a:pPr>
              <a:buNone/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Evaluate ecology, agency, reliability, distribution, and economic continuity.</a:t>
            </a:r>
          </a:p>
          <a:p xmlns:a="http://schemas.openxmlformats.org/drawingml/2006/main">
            <a:pPr>
              <a:buNone/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Publish uncertainty, failures, appeals, and reasons to revise or stop.</a:t>
            </a:r>
          </a:p>
        </p:txBody>
      </p:sp>
    </p:spTree>
    <p:extLst>
      <p:ext uri="{BB962C8B-B14F-4D97-AF65-F5344CB8AC3E}">
        <p14:creationId xmlns:p14="http://schemas.microsoft.com/office/powerpoint/2010/main" val="7086137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1E4CF-D506-4325-8C61-343AE4A2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1821"/>
                </a:solidFill>
                <a:latin typeface="Arial"/>
                <a:ea typeface="Arial"/>
                <a:cs typeface="Arial"/>
              </a:rPr>
              <a:t>Context markers in established workflows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F5931-EF26-4E47-B242-FEACF28B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Use CODE, COMPONENT, PIPELINE, ARCHITECTURE, ORGANIZATION, and STRATEGY.</a:t>
            </a:r>
          </a:p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Allow several levels, unknown levels, and defined local alternatives.</a:t>
            </a:r>
          </a:p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Record level changes in reviews, change requests, deliberation, and handovers.</a:t>
            </a:r>
          </a:p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Evaluate correction effort and coordination cost before claiming improvement.</a:t>
            </a:r>
          </a:p>
        </p:txBody>
      </p:sp>
    </p:spTree>
    <p:extLst>
      <p:ext uri="{BB962C8B-B14F-4D97-AF65-F5344CB8AC3E}">
        <p14:creationId xmlns:p14="http://schemas.microsoft.com/office/powerpoint/2010/main" val="11141939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619BD-DC48-4C42-9202-361D781A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1821"/>
                </a:solidFill>
                <a:latin typeface="Arial"/>
                <a:ea typeface="Arial"/>
                <a:cs typeface="Arial"/>
              </a:rPr>
              <a:t>Safeguards across the four laws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49551-2358-4922-8B13-6EE76281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Foundation and Law IV: protect uncertain cognition and inaccessible meanings.</a:t>
            </a:r>
          </a:p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Laws II and III: preserve voluntary exchange and independent perspectives.</a:t>
            </a:r>
          </a:p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Governance: establish authority, reasons, appeal, remedies, and revision.</a:t>
            </a:r>
          </a:p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Technical records: expose uncertainty and dissent without manufacturing consent.</a:t>
            </a:r>
          </a:p>
        </p:txBody>
      </p:sp>
    </p:spTree>
    <p:extLst>
      <p:ext uri="{BB962C8B-B14F-4D97-AF65-F5344CB8AC3E}">
        <p14:creationId xmlns:p14="http://schemas.microsoft.com/office/powerpoint/2010/main" val="20698785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2026-10-16T15:17:44.3890000Z</dcterms:created>
  <dcterms:modified xsi:type="dcterms:W3CDTF">2026-10-16T15:17:44.3890000Z</dcterms:modified>
</coreProperties>
</file>