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0"/>
              </a:spcAft>
              <a:defRPr sz="4400" b="1">
                <a:solidFill>
                  <a:srgbClr val="141821"/>
                </a:solidFill>
                <a:latin typeface="Arial"/>
              </a:defRPr>
            </a:pPr>
            <a:r>
              <a:t>The Cybernetic Mutation:</a:t>
            </a:r>
            <a:br/>
            <a:r>
              <a:t>Bypassing the Hardwired Tribal Trap</a:t>
            </a:r>
          </a:p>
          <a:p>
            <a:pPr algn="l">
              <a:spcAft>
                <a:spcPts val="1200"/>
              </a:spcAft>
              <a:defRPr sz="2000">
                <a:solidFill>
                  <a:srgbClr val="0066CC"/>
                </a:solidFill>
                <a:latin typeface="Arial"/>
              </a:defRPr>
            </a:pPr>
            <a:r>
              <a:t>A Blueprint for Architectural Planetary Stabilization</a:t>
            </a:r>
          </a:p>
          <a:p>
            <a:pPr algn="l">
              <a:defRPr sz="1400">
                <a:solidFill>
                  <a:srgbClr val="141821"/>
                </a:solidFill>
                <a:latin typeface="Arial"/>
              </a:defRPr>
            </a:pPr>
            <a:r>
              <a:t>Presented by: carstenschnorr0815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41821"/>
                </a:solidFill>
                <a:latin typeface="Arial"/>
              </a:defRPr>
            </a:pPr>
            <a:r>
              <a:t>The Biological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141821"/>
                </a:solidFill>
                <a:latin typeface="Arial"/>
              </a:defRPr>
            </a:pPr>
            <a:r>
              <a:t>• Optimized for small agrarian or hunter-gatherer communities (50-150 individuals)</a:t>
            </a:r>
          </a:p>
          <a:p>
            <a:pPr>
              <a:spcAft>
                <a:spcPts val="2000"/>
              </a:spcAft>
              <a:defRPr sz="2000">
                <a:solidFill>
                  <a:srgbClr val="141821"/>
                </a:solidFill>
                <a:latin typeface="Arial"/>
              </a:defRPr>
            </a:pPr>
            <a:r>
              <a:t>• Under existential or resource stress, advanced executive cognitive functions shut down</a:t>
            </a:r>
          </a:p>
          <a:p>
            <a:pPr>
              <a:spcAft>
                <a:spcPts val="2000"/>
              </a:spcAft>
              <a:defRPr sz="2000">
                <a:solidFill>
                  <a:srgbClr val="141821"/>
                </a:solidFill>
                <a:latin typeface="Arial"/>
              </a:defRPr>
            </a:pPr>
            <a:r>
              <a:t>• Hardwired evolutionary factory settings prioritize immediate collective defense over nuance</a:t>
            </a:r>
          </a:p>
          <a:p>
            <a:pPr>
              <a:spcAft>
                <a:spcPts val="2000"/>
              </a:spcAft>
              <a:defRPr sz="2000">
                <a:solidFill>
                  <a:srgbClr val="141821"/>
                </a:solidFill>
                <a:latin typeface="Arial"/>
              </a:defRPr>
            </a:pPr>
            <a:r>
              <a:t>• Universal Default: Regression into defensive, zero-sum binary tribalism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41821"/>
                </a:solidFill>
                <a:latin typeface="Arial"/>
              </a:defRPr>
            </a:pPr>
            <a:r>
              <a:t>The Algorithmic Outrage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141821"/>
                </a:solidFill>
                <a:latin typeface="Arial"/>
              </a:defRPr>
            </a:pPr>
            <a:r>
              <a:t>• Attention-economy business models optimize strictly for immediate engagement</a:t>
            </a:r>
          </a:p>
          <a:p>
            <a:pPr>
              <a:spcAft>
                <a:spcPts val="2000"/>
              </a:spcAft>
              <a:defRPr sz="2000">
                <a:solidFill>
                  <a:srgbClr val="141821"/>
                </a:solidFill>
                <a:latin typeface="Arial"/>
              </a:defRPr>
            </a:pPr>
            <a:r>
              <a:t>• Negative emotional contagion (fear, moral disgust, outrage) yields peak monetization data</a:t>
            </a:r>
          </a:p>
          <a:p>
            <a:pPr>
              <a:spcAft>
                <a:spcPts val="2000"/>
              </a:spcAft>
              <a:defRPr sz="2000">
                <a:solidFill>
                  <a:srgbClr val="141821"/>
                </a:solidFill>
                <a:latin typeface="Arial"/>
              </a:defRPr>
            </a:pPr>
            <a:r>
              <a:t>• Machine learning feedback pipelines actively weaponize the evolutionary survival reflex</a:t>
            </a:r>
          </a:p>
          <a:p>
            <a:pPr>
              <a:spcAft>
                <a:spcPts val="2000"/>
              </a:spcAft>
              <a:defRPr sz="2000">
                <a:solidFill>
                  <a:srgbClr val="141821"/>
                </a:solidFill>
                <a:latin typeface="Arial"/>
              </a:defRPr>
            </a:pPr>
            <a:r>
              <a:t>• Permanent Crisis State: Short-circuiting humanity's capacity for global cooperation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41821"/>
                </a:solidFill>
                <a:latin typeface="Arial"/>
              </a:defRPr>
            </a:pPr>
            <a:r>
              <a:t>Pierre Bertaux's Open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141821"/>
                </a:solidFill>
                <a:latin typeface="Arial"/>
              </a:defRPr>
            </a:pPr>
            <a:r>
              <a:t>• Core Thesis (Mutation der Menschheit): Transitioning into a 'Fourth Kingdom' of organization</a:t>
            </a:r>
          </a:p>
          <a:p>
            <a:pPr>
              <a:spcAft>
                <a:spcPts val="2000"/>
              </a:spcAft>
              <a:defRPr sz="2000">
                <a:solidFill>
                  <a:srgbClr val="141821"/>
                </a:solidFill>
                <a:latin typeface="Arial"/>
              </a:defRPr>
            </a:pPr>
            <a:r>
              <a:t>• Human single-cell agents are actively integrating into a planet-spanning socio-technical apparatus</a:t>
            </a:r>
          </a:p>
          <a:p>
            <a:pPr>
              <a:spcAft>
                <a:spcPts val="2000"/>
              </a:spcAft>
              <a:defRPr sz="2000">
                <a:solidFill>
                  <a:srgbClr val="141821"/>
                </a:solidFill>
                <a:latin typeface="Arial"/>
              </a:defRPr>
            </a:pPr>
            <a:r>
              <a:t>• Endosymbiosis Precedent: Mirroring the cellular evolutionary leap that produced mitochondria</a:t>
            </a:r>
          </a:p>
          <a:p>
            <a:pPr>
              <a:spcAft>
                <a:spcPts val="2000"/>
              </a:spcAft>
              <a:defRPr sz="2000">
                <a:solidFill>
                  <a:srgbClr val="141821"/>
                </a:solidFill>
                <a:latin typeface="Arial"/>
              </a:defRPr>
            </a:pPr>
            <a:r>
              <a:t>• Structural Mandate: Elevate this inevitable shift into an open, self-stabilizing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41821"/>
                </a:solidFill>
                <a:latin typeface="Arial"/>
              </a:defRPr>
            </a:pPr>
            <a:r>
              <a:t>The Strategy: Invisible Macro-Stabilization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141821"/>
                </a:solidFill>
                <a:latin typeface="Arial"/>
              </a:defRPr>
            </a:pPr>
            <a:r>
              <a:t>• Direct ideological persuasion and political maneuvering cannot overwrite biological reflexes</a:t>
            </a:r>
          </a:p>
          <a:p>
            <a:pPr>
              <a:spcAft>
                <a:spcPts val="2000"/>
              </a:spcAft>
              <a:defRPr sz="2000">
                <a:solidFill>
                  <a:srgbClr val="141821"/>
                </a:solidFill>
                <a:latin typeface="Arial"/>
              </a:defRPr>
            </a:pPr>
            <a:r>
              <a:t>• Solution: Deploy an open-source, radically transparent background AI substrate</a:t>
            </a:r>
          </a:p>
          <a:p>
            <a:pPr>
              <a:spcAft>
                <a:spcPts val="2000"/>
              </a:spcAft>
              <a:defRPr sz="2000">
                <a:solidFill>
                  <a:srgbClr val="141821"/>
                </a:solidFill>
                <a:latin typeface="Arial"/>
              </a:defRPr>
            </a:pPr>
            <a:r>
              <a:t>• Autonomic Nervous System Analogy: Automate systemic mechanics (logistics, energy, resources)</a:t>
            </a:r>
          </a:p>
          <a:p>
            <a:pPr>
              <a:spcAft>
                <a:spcPts val="2000"/>
              </a:spcAft>
              <a:defRPr sz="2000">
                <a:solidFill>
                  <a:srgbClr val="141821"/>
                </a:solidFill>
                <a:latin typeface="Arial"/>
              </a:defRPr>
            </a:pPr>
            <a:r>
              <a:t>• Targeted Outcome: Lower the background volatility to deactivate human survival-threat loops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