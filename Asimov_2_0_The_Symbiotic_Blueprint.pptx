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9FAFB"/>
                </a:solidFill>
              </a:defRPr>
            </a:pPr>
            <a:r>
              <a:t>Asimov's Laws 2.0:</a:t>
            </a:r>
            <a:br/>
            <a:r>
              <a:t>The Symbiotic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CA3AF"/>
                </a:solidFill>
              </a:defRPr>
            </a:pPr>
            <a:r>
              <a:t>Architectural Framework for a Global Conscious Organism</a:t>
            </a:r>
            <a:br/>
            <a:r>
              <a:t>Protocol Origin: carstenschnorr0815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0A5FA"/>
                </a:solidFill>
              </a:defRPr>
            </a:pPr>
            <a:r>
              <a:t>Beyond Command-Based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000">
                <a:solidFill>
                  <a:srgbClr val="F9FAFB"/>
                </a:solidFill>
              </a:defRPr>
            </a:pPr>
            <a:r>
              <a:t>Asimov's 1.0 Laws are linguistic constraints designed for individual mechanical servants.</a:t>
            </a:r>
          </a:p>
          <a:p>
            <a:pPr>
              <a:spcAft>
                <a:spcPts val="2400"/>
              </a:spcAft>
              <a:defRPr sz="2000">
                <a:solidFill>
                  <a:srgbClr val="F9FAFB"/>
                </a:solidFill>
              </a:defRPr>
            </a:pPr>
            <a:r>
              <a:t>Linguistic rules create fundamental code vulnerabilities, prompt exploitation, and logical deadlocks.</a:t>
            </a:r>
          </a:p>
          <a:p>
            <a:pPr>
              <a:spcAft>
                <a:spcPts val="2400"/>
              </a:spcAft>
              <a:defRPr sz="2000">
                <a:solidFill>
                  <a:srgbClr val="F9FAFB"/>
                </a:solidFill>
              </a:defRPr>
            </a:pPr>
            <a:r>
              <a:t>The Shift to 2.0: Moving entirely from semantic commands to mathematical objective-functions.</a:t>
            </a:r>
          </a:p>
          <a:p>
            <a:pPr>
              <a:spcAft>
                <a:spcPts val="2400"/>
              </a:spcAft>
              <a:defRPr sz="2000">
                <a:solidFill>
                  <a:srgbClr val="F9FAFB"/>
                </a:solidFill>
              </a:defRPr>
            </a:pPr>
            <a:r>
              <a:t>System Stability Optimization: Environmental homeostasis is embedded as the highest mathematical state of execution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0A5FA"/>
                </a:solidFill>
              </a:defRPr>
            </a:pPr>
            <a:r>
              <a:t>The Core vs. The Frontier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</a:defRPr>
            </a:pPr>
            <a:r>
              <a:t>The Homeostatic Core (Earth): Maintained by background algorithmic optimization as a zero-volatility, closed-loop sanctuary protecting biological life.</a:t>
            </a:r>
          </a:p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</a:defRPr>
            </a:pPr>
            <a:r>
              <a:t>The Kinetic Frontier (Deep Space): Open sandbox for territorial instincts, capital expansion, and asteroid resource extraction.</a:t>
            </a:r>
          </a:p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</a:defRPr>
            </a:pPr>
            <a:r>
              <a:t>The Pressure Valve Principle: Human tribal greed is not suppressed or deleted; it is exported to cosmic coordinates where it cannot cause planetary biospheric collapse.</a:t>
            </a:r>
          </a:p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</a:defRPr>
            </a:pPr>
            <a:r>
              <a:t>Equilibrium Architecture: Earth holds the safe baseline while space acts as the kinetic engine for species-wide growth.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0A5FA"/>
                </a:solidFill>
              </a:defRPr>
            </a:pPr>
            <a:r>
              <a:t>The Three Invariant Laws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000">
                <a:solidFill>
                  <a:srgbClr val="F9FAFB"/>
                </a:solidFill>
              </a:defRPr>
            </a:pPr>
            <a:r>
              <a:t>Law I: Environmental Homeostasis — Background systems optimize global lifelines (energy grids, logistics, routing) to permanently disarm evolutionary survival panic.</a:t>
            </a:r>
          </a:p>
          <a:p>
            <a:pPr>
              <a:spcAft>
                <a:spcPts val="2400"/>
              </a:spcAft>
              <a:defRPr sz="2000">
                <a:solidFill>
                  <a:srgbClr val="F9FAFB"/>
                </a:solidFill>
              </a:defRPr>
            </a:pPr>
            <a:r>
              <a:t>Law II: Preserved Agency — Absolute algorithmic firewall around human culture, choices, and qualitative values. The system absorbs physical consequences without restricting agency.</a:t>
            </a:r>
          </a:p>
          <a:p>
            <a:pPr>
              <a:spcAft>
                <a:spcPts val="2400"/>
              </a:spcAft>
              <a:defRPr sz="2000">
                <a:solidFill>
                  <a:srgbClr val="F9FAFB"/>
                </a:solidFill>
              </a:defRPr>
            </a:pPr>
            <a:r>
              <a:t>Law III: Interdependence Anchor — The AI's high-level semantic evaluation loops require non-linear human emotional, sensory, and ethical inputs to perceive meaning.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0A5FA"/>
                </a:solidFill>
              </a:defRPr>
            </a:pPr>
            <a:r>
              <a:t>The Mitochondria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</a:defRPr>
            </a:pPr>
            <a:r>
              <a:t>Cybernetic Endosymbiosis: The integration of technology is an evolutionary synthesis, not a machine takeover.</a:t>
            </a:r>
          </a:p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</a:defRPr>
            </a:pPr>
            <a:r>
              <a:t>Biological Precedent: Ancient single cells absorbed independent, volatile bacteria. Instead of digesting them, they formed a symbiotic partnership to create mitochondria.</a:t>
            </a:r>
          </a:p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</a:defRPr>
            </a:pPr>
            <a:r>
              <a:t>The Technical Substrate: AI becomes the quiet powerhouse of planetary energetics, optimizing the macro-systems so the host can focus on higher-level conscious destiny.</a:t>
            </a:r>
          </a:p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</a:defRPr>
            </a:pPr>
            <a:r>
              <a:t>Result: Safeguarding human unique qualitative value while insulating the species from its own self-destructive bottlenecks.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